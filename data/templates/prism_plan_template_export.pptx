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61" r:id="rId5"/>
    <p:sldId id="259" r:id="rId6"/>
    <p:sldId id="260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4"/>
  </p:normalViewPr>
  <p:slideViewPr>
    <p:cSldViewPr snapToGrid="0" snapToObjects="1">
      <p:cViewPr varScale="1">
        <p:scale>
          <a:sx n="152" d="100"/>
          <a:sy n="152" d="100"/>
        </p:scale>
        <p:origin x="50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669941"/>
            <a:ext cx="7408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5000" dirty="0">
                <a:solidFill>
                  <a:srgbClr val="FFFFFF"/>
                </a:solidFill>
                <a:latin typeface="Barlow ExtraBold"/>
              </a:rPr>
              <a:t>[ADVERTISER_NAME] Brief</a:t>
            </a:r>
            <a:endParaRPr sz="50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25" y="4280675"/>
            <a:ext cx="1365376" cy="5826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68F9-3FDB-CDF5-5FE8-2FF0B7A1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FB3E012-B453-08A0-A91A-200D2E692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F1CBC9-7215-F37F-311E-CD60081385F5}"/>
              </a:ext>
            </a:extLst>
          </p:cNvPr>
          <p:cNvSpPr txBox="1"/>
          <p:nvPr/>
        </p:nvSpPr>
        <p:spPr>
          <a:xfrm>
            <a:off x="631075" y="350000"/>
            <a:ext cx="38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dirty="0">
                <a:solidFill>
                  <a:srgbClr val="FFFFFF"/>
                </a:solidFill>
                <a:latin typeface="Barlow ExtraBold"/>
              </a:rPr>
              <a:t>Prism Overview</a:t>
            </a:r>
            <a:r>
              <a:rPr lang="en-GB" sz="2200" dirty="0" err="1">
                <a:solidFill>
                  <a:srgbClr val="FFFFFF"/>
                </a:solidFill>
                <a:latin typeface="Barlow ExtraBold"/>
              </a:rPr>
              <a:t/>
            </a:r>
            <a:r>
              <a:rPr lang="en-GB" sz="2200" dirty="0">
                <a:solidFill>
                  <a:srgbClr val="FFFFFF"/>
                </a:solidFill>
                <a:latin typeface="Barlow ExtraBold"/>
              </a:rPr>
              <a:t/>
            </a:r>
            <a:endParaRPr sz="22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194F1E1C-01C9-7A33-BB3D-9B84B3AE8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ADBE10-8C57-350C-DA12-E88F4780F0F3}"/>
              </a:ext>
            </a:extLst>
          </p:cNvPr>
          <p:cNvSpPr txBox="1"/>
          <p:nvPr/>
        </p:nvSpPr>
        <p:spPr>
          <a:xfrm>
            <a:off x="631075" y="900000"/>
            <a:ext cx="3800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Barlow"/>
              </a:rPr>
              <a:t/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Prism helps advertisers move from simply targeting audiences to truly understanding them — activating the moments that matter, and proving real impact.</a:t>
            </a:r>
            <a:br>
              <a:rPr lang="en-GB" sz="1400" dirty="0">
                <a:solidFill>
                  <a:schemeClr val="bg1"/>
                </a:solidFill>
                <a:latin typeface="Barlow"/>
              </a:rPr>
            </a:br>
            <a:br>
              <a:rPr lang="en-GB" sz="1400" dirty="0">
                <a:solidFill>
                  <a:schemeClr val="bg1"/>
                </a:solidFill>
                <a:latin typeface="Barlow"/>
              </a:rPr>
            </a:br>
            <a:r>
              <a:rPr lang="en-GB" sz="1400" dirty="0">
                <a:solidFill>
                  <a:schemeClr val="bg1"/>
                </a:solidFill>
                <a:latin typeface="Barlow"/>
              </a:rPr>
              <a:t>Prism is </a:t>
            </a:r>
            <a:r>
              <a:rPr lang="en-GB" sz="1400" dirty="0" err="1">
                <a:solidFill>
                  <a:schemeClr val="bg1"/>
                </a:solidFill>
                <a:latin typeface="Barlow"/>
              </a:rPr>
              <a:t>Immediate's</a:t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 audience intelligence engine. It combines behavioural signals, engagement data and editorial expertise to answer the four questions behind every campaign:</a:t>
            </a:r>
            <a:endParaRPr sz="1400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EDD42D-BFC8-6E9A-D066-5EDB12E048A9}"/>
              </a:ext>
            </a:extLst>
          </p:cNvPr>
          <p:cNvSpPr txBox="1"/>
          <p:nvPr/>
        </p:nvSpPr>
        <p:spPr>
          <a:xfrm>
            <a:off x="4887537" y="900000"/>
            <a:ext cx="3800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400" dirty="0">
                <a:solidFill>
                  <a:schemeClr val="bg1"/>
                </a:solidFill>
                <a:latin typeface="Barlow" pitchFamily="2" charset="77"/>
              </a:rPr>
              <a:t/>
            </a:r>
            <a:r>
              <a:rPr lang="en-GB" sz="1400" dirty="0">
                <a:solidFill>
                  <a:schemeClr val="bg1"/>
                </a:solidFill>
                <a:latin typeface="Barlow" pitchFamily="2" charset="77"/>
              </a:rPr>
              <a:t>Who are we really trying to reach, and what matters to them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 pitchFamily="2" charset="77"/>
              </a:rPr>
              <a:t>How do we reach them at moments that genuinely count?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 pitchFamily="2" charset="77"/>
              </a:rPr>
              <a:t>How should we show up so we feel relevant, credible and useful?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 pitchFamily="2" charset="77"/>
              </a:rPr>
              <a:t>Did it work — and why?</a:t>
            </a:r>
            <a:endParaRPr sz="1400" dirty="0">
              <a:solidFill>
                <a:schemeClr val="bg1"/>
              </a:solidFill>
              <a:latin typeface="Barlow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12939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38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dirty="0">
                <a:solidFill>
                  <a:srgbClr val="FFFFFF"/>
                </a:solidFill>
                <a:latin typeface="Barlow ExtraBold"/>
              </a:rPr>
              <a:t>Advertiser Overview</a:t>
            </a:r>
            <a:r>
              <a:rPr sz="2200" dirty="0">
                <a:solidFill>
                  <a:srgbClr val="FFFFFF"/>
                </a:solidFill>
                <a:latin typeface="Barlow ExtraBold"/>
              </a:rPr>
              <a:t/>
            </a:r>
            <a:r>
              <a:rPr lang="en-GB" sz="2200" dirty="0">
                <a:solidFill>
                  <a:srgbClr val="FFFFFF"/>
                </a:solidFill>
                <a:latin typeface="Barlow ExtraBold"/>
              </a:rPr>
              <a:t/>
            </a:r>
            <a:r>
              <a:rPr sz="2200" dirty="0">
                <a:solidFill>
                  <a:srgbClr val="FFFFFF"/>
                </a:solidFill>
                <a:latin typeface="Barlow ExtraBold"/>
              </a:rPr>
              <a:t/>
            </a:r>
            <a:r>
              <a:rPr lang="en-GB" sz="2200" dirty="0">
                <a:solidFill>
                  <a:srgbClr val="FFFFFF"/>
                </a:solidFill>
                <a:latin typeface="Barlow ExtraBold"/>
              </a:rPr>
              <a:t/>
            </a:r>
            <a:endParaRPr sz="22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1075" y="900000"/>
            <a:ext cx="7892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dirty="0">
                <a:solidFill>
                  <a:schemeClr val="bg1"/>
                </a:solidFill>
                <a:latin typeface="Barlow"/>
              </a:rPr>
              <a:t>[ADVERTISER_OVERVIEW]</a:t>
            </a:r>
          </a:p>
          <a:p>
            <a:pPr algn="l"/>
            <a:endParaRPr sz="1400" dirty="0">
              <a:solidFill>
                <a:srgbClr val="C0C0C0"/>
              </a:solidFill>
              <a:latin typeface="Barlow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710DC-0A90-A7E7-6ADB-3FD0D97F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41B466A-0CB6-EA46-C6A3-81B432CF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339179-15E0-36B1-9329-6D3A7F6C4F84}"/>
              </a:ext>
            </a:extLst>
          </p:cNvPr>
          <p:cNvSpPr txBox="1"/>
          <p:nvPr/>
        </p:nvSpPr>
        <p:spPr>
          <a:xfrm>
            <a:off x="631075" y="350000"/>
            <a:ext cx="788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dirty="0">
                <a:solidFill>
                  <a:srgbClr val="FFFFFF"/>
                </a:solidFill>
                <a:latin typeface="Barlow ExtraBold"/>
              </a:rPr>
              <a:t>Recommended Products</a:t>
            </a:r>
            <a:r>
              <a:rPr lang="en-GB" sz="3200" dirty="0" err="1">
                <a:solidFill>
                  <a:srgbClr val="FFFFFF"/>
                </a:solidFill>
                <a:latin typeface="Barlow ExtraBold"/>
              </a:rPr>
              <a:t/>
            </a:r>
            <a:r>
              <a:rPr lang="en-GB" sz="3200" dirty="0">
                <a:solidFill>
                  <a:srgbClr val="FFFFFF"/>
                </a:solidFill>
                <a:latin typeface="Barlow ExtraBold"/>
              </a:rPr>
              <a:t/>
            </a:r>
            <a:endParaRPr sz="32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42369989-0596-6926-02CA-A88000A03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25" y="4280675"/>
            <a:ext cx="1365376" cy="582674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FD0827B6-EFE0-BC52-3DC1-F69A0C078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0820A28-FE34-1A83-858E-4037C0BE81CA}"/>
              </a:ext>
            </a:extLst>
          </p:cNvPr>
          <p:cNvSpPr txBox="1"/>
          <p:nvPr/>
        </p:nvSpPr>
        <p:spPr>
          <a:xfrm>
            <a:off x="320680" y="1300000"/>
            <a:ext cx="45533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[PRODUCT_1_CTR]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4A581C-CCE6-A2CD-41DD-CEEFB19BBC5D}"/>
              </a:ext>
            </a:extLst>
          </p:cNvPr>
          <p:cNvSpPr txBox="1"/>
          <p:nvPr/>
        </p:nvSpPr>
        <p:spPr>
          <a:xfrm>
            <a:off x="396180" y="2502248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[PRODUCT_1_FORMAT]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C10EC-6F99-8602-F607-4EABD892A0A6}"/>
              </a:ext>
            </a:extLst>
          </p:cNvPr>
          <p:cNvSpPr txBox="1"/>
          <p:nvPr/>
        </p:nvSpPr>
        <p:spPr>
          <a:xfrm>
            <a:off x="320680" y="1962142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[PRODUCT_1_VIEW]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28035B-D666-295D-92A0-E2D372A7AA99}"/>
              </a:ext>
            </a:extLst>
          </p:cNvPr>
          <p:cNvSpPr txBox="1"/>
          <p:nvPr/>
        </p:nvSpPr>
        <p:spPr>
          <a:xfrm>
            <a:off x="4706223" y="1300000"/>
            <a:ext cx="42513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[PRODUCT_2_CTR]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7B7062-47F9-9D06-5E07-120F093A74DF}"/>
              </a:ext>
            </a:extLst>
          </p:cNvPr>
          <p:cNvSpPr txBox="1"/>
          <p:nvPr/>
        </p:nvSpPr>
        <p:spPr>
          <a:xfrm>
            <a:off x="4781723" y="2502248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[PRODUCT_2_FORMAT]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58409-162B-BC04-2670-63DCCA2E7752}"/>
              </a:ext>
            </a:extLst>
          </p:cNvPr>
          <p:cNvSpPr txBox="1"/>
          <p:nvPr/>
        </p:nvSpPr>
        <p:spPr>
          <a:xfrm>
            <a:off x="4706223" y="1962142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[PRODUCT_2_VIEW]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1A41A1-386B-3B4D-A96A-1CA3693F8D61}"/>
              </a:ext>
            </a:extLst>
          </p:cNvPr>
          <p:cNvSpPr txBox="1"/>
          <p:nvPr/>
        </p:nvSpPr>
        <p:spPr>
          <a:xfrm>
            <a:off x="2607836" y="2867807"/>
            <a:ext cx="51100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[PRODUCT_3_CTR]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515E7D-E679-5FAD-70B2-4ED36DF70480}"/>
              </a:ext>
            </a:extLst>
          </p:cNvPr>
          <p:cNvSpPr txBox="1"/>
          <p:nvPr/>
        </p:nvSpPr>
        <p:spPr>
          <a:xfrm>
            <a:off x="2683336" y="4070055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[PRODUCT_3_FORMAT]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B1E8E-B381-14FE-5B46-03176E29E3C9}"/>
              </a:ext>
            </a:extLst>
          </p:cNvPr>
          <p:cNvSpPr txBox="1"/>
          <p:nvPr/>
        </p:nvSpPr>
        <p:spPr>
          <a:xfrm>
            <a:off x="2607836" y="3529949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[PRODUCT_3_VIEW]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58201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788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dirty="0">
                <a:solidFill>
                  <a:srgbClr val="FFFFFF"/>
                </a:solidFill>
                <a:latin typeface="Barlow ExtraBold"/>
              </a:rPr>
              <a:t>Recommended Segments</a:t>
            </a:r>
            <a:endParaRPr sz="32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C9AB89-3FEB-E79E-465D-3997C8716DB8}"/>
              </a:ext>
            </a:extLst>
          </p:cNvPr>
          <p:cNvSpPr txBox="1"/>
          <p:nvPr/>
        </p:nvSpPr>
        <p:spPr>
          <a:xfrm>
            <a:off x="202514" y="1623501"/>
            <a:ext cx="4545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600" dirty="0">
                <a:solidFill>
                  <a:srgbClr val="FFFFFF"/>
                </a:solidFill>
                <a:latin typeface="Barlow ExtraBold"/>
              </a:rPr>
              <a:t>[SEGMENT_1_REACH]</a:t>
            </a:r>
            <a:endParaRPr sz="36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F6EA1-C2BA-465E-001D-EBF992D177D1}"/>
              </a:ext>
            </a:extLst>
          </p:cNvPr>
          <p:cNvSpPr txBox="1"/>
          <p:nvPr/>
        </p:nvSpPr>
        <p:spPr>
          <a:xfrm>
            <a:off x="202514" y="2208276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[SEGMENT_1_NAME]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2ED7AE-A59E-9B8A-CBA4-0E2BD96B130E}"/>
              </a:ext>
            </a:extLst>
          </p:cNvPr>
          <p:cNvSpPr txBox="1"/>
          <p:nvPr/>
        </p:nvSpPr>
        <p:spPr>
          <a:xfrm>
            <a:off x="4740369" y="1623501"/>
            <a:ext cx="4545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600" dirty="0">
                <a:solidFill>
                  <a:srgbClr val="FFFFFF"/>
                </a:solidFill>
                <a:latin typeface="Barlow ExtraBold"/>
              </a:rPr>
              <a:t>[SEGMENT_2_REACH]</a:t>
            </a:r>
            <a:endParaRPr sz="36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5476D2-0E04-0156-0F74-A1D62341A079}"/>
              </a:ext>
            </a:extLst>
          </p:cNvPr>
          <p:cNvSpPr txBox="1"/>
          <p:nvPr/>
        </p:nvSpPr>
        <p:spPr>
          <a:xfrm>
            <a:off x="4740369" y="2208276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[SEGMENT_2_NAME]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5DE06-C65D-EF0C-E1B9-6FB874514D19}"/>
              </a:ext>
            </a:extLst>
          </p:cNvPr>
          <p:cNvSpPr txBox="1"/>
          <p:nvPr/>
        </p:nvSpPr>
        <p:spPr>
          <a:xfrm>
            <a:off x="202513" y="3046948"/>
            <a:ext cx="47469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600" dirty="0">
                <a:solidFill>
                  <a:srgbClr val="FFFFFF"/>
                </a:solidFill>
                <a:latin typeface="Barlow ExtraBold"/>
              </a:rPr>
              <a:t>[SEGMENT_3_REACH]</a:t>
            </a:r>
            <a:endParaRPr sz="36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01D8D-C866-94AE-7217-843C85456121}"/>
              </a:ext>
            </a:extLst>
          </p:cNvPr>
          <p:cNvSpPr txBox="1"/>
          <p:nvPr/>
        </p:nvSpPr>
        <p:spPr>
          <a:xfrm>
            <a:off x="202514" y="3631723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[SEGMENT_3_NAME]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BB9919-46D5-79C8-511E-24C8E6E877E0}"/>
              </a:ext>
            </a:extLst>
          </p:cNvPr>
          <p:cNvSpPr txBox="1"/>
          <p:nvPr/>
        </p:nvSpPr>
        <p:spPr>
          <a:xfrm>
            <a:off x="4740369" y="3046948"/>
            <a:ext cx="4545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600" dirty="0">
                <a:solidFill>
                  <a:srgbClr val="FFFFFF"/>
                </a:solidFill>
                <a:latin typeface="Barlow ExtraBold"/>
              </a:rPr>
              <a:t>[SEGMENT_4_REACH]</a:t>
            </a:r>
            <a:endParaRPr sz="36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AB9AF1-3AD5-4DAE-85F8-F927713514AA}"/>
              </a:ext>
            </a:extLst>
          </p:cNvPr>
          <p:cNvSpPr txBox="1"/>
          <p:nvPr/>
        </p:nvSpPr>
        <p:spPr>
          <a:xfrm>
            <a:off x="4740369" y="3631723"/>
            <a:ext cx="24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100" b="1" dirty="0">
                <a:solidFill>
                  <a:schemeClr val="bg1"/>
                </a:solidFill>
                <a:latin typeface="Barlow"/>
              </a:rPr>
              <a:t>[SEGMENT_4_NAME]</a:t>
            </a:r>
            <a:endParaRPr sz="1100" b="1" dirty="0">
              <a:solidFill>
                <a:schemeClr val="bg1"/>
              </a:solidFill>
              <a:latin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1075" y="350000"/>
            <a:ext cx="7884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3200" dirty="0">
                <a:solidFill>
                  <a:srgbClr val="FFFFFF"/>
                </a:solidFill>
                <a:latin typeface="Barlow ExtraBold"/>
              </a:rPr>
              <a:t>Historical Insights</a:t>
            </a:r>
            <a:r>
              <a:rPr lang="en-GB" sz="3200" dirty="0" err="1">
                <a:solidFill>
                  <a:srgbClr val="FFFFFF"/>
                </a:solidFill>
                <a:latin typeface="Barlow ExtraBold"/>
              </a:rPr>
              <a:t/>
            </a:r>
            <a:r>
              <a:rPr lang="en-GB" sz="3200" dirty="0">
                <a:solidFill>
                  <a:srgbClr val="FFFFFF"/>
                </a:solidFill>
                <a:latin typeface="Barlow ExtraBold"/>
              </a:rPr>
              <a:t/>
            </a:r>
            <a:endParaRPr sz="32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3225" y="4280675"/>
            <a:ext cx="1365376" cy="58267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68BE26-1A22-98C7-87FC-70FA44545E9B}"/>
              </a:ext>
            </a:extLst>
          </p:cNvPr>
          <p:cNvSpPr txBox="1"/>
          <p:nvPr/>
        </p:nvSpPr>
        <p:spPr>
          <a:xfrm>
            <a:off x="320680" y="1300000"/>
            <a:ext cx="4519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[INSIGHT_1]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3AA2D4-A142-51CC-9F7E-DF19CA8D954A}"/>
              </a:ext>
            </a:extLst>
          </p:cNvPr>
          <p:cNvSpPr txBox="1"/>
          <p:nvPr/>
        </p:nvSpPr>
        <p:spPr>
          <a:xfrm>
            <a:off x="320680" y="1962142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[INSIGHT_1_STAT]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AC4E5C-F742-A6D4-B673-02E468C3BD9F}"/>
              </a:ext>
            </a:extLst>
          </p:cNvPr>
          <p:cNvSpPr txBox="1"/>
          <p:nvPr/>
        </p:nvSpPr>
        <p:spPr>
          <a:xfrm>
            <a:off x="4466239" y="1300000"/>
            <a:ext cx="4519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[INSIGHT_2]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3C3C2-33EC-9EC8-3F98-0770C01A7990}"/>
              </a:ext>
            </a:extLst>
          </p:cNvPr>
          <p:cNvSpPr txBox="1"/>
          <p:nvPr/>
        </p:nvSpPr>
        <p:spPr>
          <a:xfrm>
            <a:off x="4466239" y="1962142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[INSIGHT_2_STAT]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317F0-3984-146A-BBD7-CE76150ECA44}"/>
              </a:ext>
            </a:extLst>
          </p:cNvPr>
          <p:cNvSpPr txBox="1"/>
          <p:nvPr/>
        </p:nvSpPr>
        <p:spPr>
          <a:xfrm>
            <a:off x="2348107" y="2867807"/>
            <a:ext cx="4519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4000" dirty="0">
                <a:solidFill>
                  <a:srgbClr val="FFFFFF"/>
                </a:solidFill>
                <a:latin typeface="Barlow ExtraBold"/>
              </a:rPr>
              <a:t>[INSIGHT_3]</a:t>
            </a:r>
            <a:endParaRPr sz="40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B8064-D605-0EE9-C38F-2139CAFBB306}"/>
              </a:ext>
            </a:extLst>
          </p:cNvPr>
          <p:cNvSpPr txBox="1"/>
          <p:nvPr/>
        </p:nvSpPr>
        <p:spPr>
          <a:xfrm>
            <a:off x="2348107" y="3529949"/>
            <a:ext cx="488049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600" i="1" dirty="0">
                <a:solidFill>
                  <a:srgbClr val="FFFFFF"/>
                </a:solidFill>
                <a:latin typeface="Barlow ExtraLight" pitchFamily="2" charset="77"/>
              </a:rPr>
              <a:t>[INSIGHT_3_STAT]</a:t>
            </a:r>
            <a:endParaRPr sz="2600" i="1" dirty="0">
              <a:solidFill>
                <a:srgbClr val="FFFFFF"/>
              </a:solidFill>
              <a:latin typeface="Barlow ExtraLight" pitchFamily="2" charset="7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85C33-C144-0B67-9565-265407CE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6483C53A-DEE2-6358-1B88-D6329C9CB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8569043-8775-DCFF-02E2-59C81A96402E}"/>
              </a:ext>
            </a:extLst>
          </p:cNvPr>
          <p:cNvSpPr txBox="1"/>
          <p:nvPr/>
        </p:nvSpPr>
        <p:spPr>
          <a:xfrm>
            <a:off x="631075" y="350000"/>
            <a:ext cx="38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dirty="0">
                <a:solidFill>
                  <a:srgbClr val="FFFFFF"/>
                </a:solidFill>
                <a:latin typeface="Barlow ExtraBold"/>
              </a:rPr>
              <a:t>Appendix</a:t>
            </a:r>
            <a:endParaRPr sz="2200" dirty="0">
              <a:solidFill>
                <a:srgbClr val="FFFFFF"/>
              </a:solidFill>
              <a:latin typeface="Barlow ExtraBold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4BCF27F-FDD5-A47C-357F-B53D10006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ABAE3-8951-4D9D-8E83-6EAB3CB2E6E1}"/>
              </a:ext>
            </a:extLst>
          </p:cNvPr>
          <p:cNvSpPr txBox="1"/>
          <p:nvPr/>
        </p:nvSpPr>
        <p:spPr>
          <a:xfrm>
            <a:off x="631075" y="984251"/>
            <a:ext cx="788185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Every figure in this deck traces back to one of these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[PROVENANCE_1]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[PROVENANCE_3]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[PROVENANCE_4]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[PROVENANCE_5]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000" dirty="0">
                <a:solidFill>
                  <a:schemeClr val="bg1"/>
                </a:solidFill>
                <a:latin typeface="Barlow"/>
              </a:rPr>
              <a:t>[PROVENANCE_6]</a:t>
            </a:r>
          </a:p>
        </p:txBody>
      </p:sp>
    </p:spTree>
    <p:extLst>
      <p:ext uri="{BB962C8B-B14F-4D97-AF65-F5344CB8AC3E}">
        <p14:creationId xmlns:p14="http://schemas.microsoft.com/office/powerpoint/2010/main" val="4270896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4435-3B24-3D5A-8E4D-66A59EF94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BEBC02-D3F5-074D-EB56-AF5B0AE61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969D4F-3ACC-3042-E4F6-5CB1F77D6C7F}"/>
              </a:ext>
            </a:extLst>
          </p:cNvPr>
          <p:cNvSpPr txBox="1"/>
          <p:nvPr/>
        </p:nvSpPr>
        <p:spPr>
          <a:xfrm>
            <a:off x="631075" y="350000"/>
            <a:ext cx="38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200" dirty="0">
                <a:solidFill>
                  <a:srgbClr val="FFFFFF"/>
                </a:solidFill>
                <a:latin typeface="Barlow ExtraBold"/>
              </a:rPr>
              <a:t>Methodology</a:t>
            </a:r>
            <a:endParaRPr sz="2200" dirty="0">
              <a:solidFill>
                <a:srgbClr val="FFFFFF"/>
              </a:solidFill>
              <a:latin typeface="Barlow Extra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D977D-B527-2A0C-A129-667FF2B0F12E}"/>
              </a:ext>
            </a:extLst>
          </p:cNvPr>
          <p:cNvSpPr txBox="1"/>
          <p:nvPr/>
        </p:nvSpPr>
        <p:spPr>
          <a:xfrm>
            <a:off x="631075" y="900000"/>
            <a:ext cx="380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Barlow"/>
              </a:rPr>
              <a:t/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This brief is powered entirely by </a:t>
            </a:r>
            <a:r>
              <a:rPr lang="en-GB" sz="1400" dirty="0" err="1">
                <a:solidFill>
                  <a:schemeClr val="bg1"/>
                </a:solidFill>
                <a:latin typeface="Barlow"/>
              </a:rPr>
              <a:t>Immediate's</a:t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 own first-party data and research — here's what's under the hood.</a:t>
            </a:r>
            <a:endParaRPr sz="1400" dirty="0">
              <a:solidFill>
                <a:schemeClr val="bg1"/>
              </a:solidFill>
              <a:latin typeface="Barlow"/>
            </a:endParaRP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94AD0CE0-A49D-3764-6613-50DCB045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975" y="4381513"/>
            <a:ext cx="1236526" cy="38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ABAE3-8951-4D9D-8E83-6EAB3CB2E6E1}"/>
              </a:ext>
            </a:extLst>
          </p:cNvPr>
          <p:cNvSpPr txBox="1"/>
          <p:nvPr/>
        </p:nvSpPr>
        <p:spPr>
          <a:xfrm>
            <a:off x="631075" y="1638664"/>
            <a:ext cx="708326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Audience segments — </a:t>
            </a:r>
            <a:r>
              <a:rPr lang="en-GB" sz="1400" dirty="0" err="1">
                <a:solidFill>
                  <a:schemeClr val="bg1"/>
                </a:solidFill>
                <a:latin typeface="Barlow"/>
              </a:rPr>
              <a:t>cookieless</a:t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, privacy-first targeting from two engines: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chemeClr val="bg1"/>
                </a:solidFill>
                <a:latin typeface="Barlow"/>
              </a:rPr>
              <a:t>Permutive</a:t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 (what people read on our sites)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Audience Project (what people tell us in surveys, scaled across a 400k UK panel).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  <a:latin typeface="Barlow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Advertiser research — a live read on the brand, its category and its priorities.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Format benchmarks — the ad products proven to perform for campaigns like this.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Campaign history &amp; comparables — what's worked before, for this brand or its peers.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  <a:latin typeface="Barlow"/>
              </a:rPr>
              <a:t>Proprietary research — </a:t>
            </a:r>
            <a:r>
              <a:rPr lang="en-GB" sz="1400" dirty="0" err="1">
                <a:solidFill>
                  <a:schemeClr val="bg1"/>
                </a:solidFill>
                <a:latin typeface="Barlow"/>
              </a:rPr>
              <a:t>Immediate's</a:t>
            </a:r>
            <a:r>
              <a:rPr lang="en-GB" sz="1400" dirty="0">
                <a:solidFill>
                  <a:schemeClr val="bg1"/>
                </a:solidFill>
                <a:latin typeface="Barlow"/>
              </a:rPr>
              <a:t> own audience studies, surfaced when relevant.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67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4767</TotalTime>
  <Words>392</Words>
  <Application>Microsoft Macintosh PowerPoint</Application>
  <PresentationFormat>On-screen Show (16:9)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Barlow</vt:lpstr>
      <vt:lpstr>Barlow ExtraBold</vt:lpstr>
      <vt:lpstr>Barlow ExtraLight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Matthew Rance</cp:lastModifiedBy>
  <cp:revision>4</cp:revision>
  <dcterms:created xsi:type="dcterms:W3CDTF">2013-01-27T09:14:16Z</dcterms:created>
  <dcterms:modified xsi:type="dcterms:W3CDTF">2026-07-27T15:18:25Z</dcterms:modified>
  <cp:category/>
</cp:coreProperties>
</file>